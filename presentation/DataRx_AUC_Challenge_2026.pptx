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Community Hub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A9D8F"/>
                </a:solidFill>
                <a:latin typeface="Calibri"/>
              </a:defRPr>
            </a:pPr>
            <a:r>
              <a:t>Bridging Economic Gaps to Improve Healthcare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Calibri"/>
              </a:defRPr>
            </a:pPr>
            <a:r>
              <a:t>St. Helena Parish, Louisiana  |  Census Tract 22091 951100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3"/>
                </a:solidFill>
                <a:latin typeface="Calibri"/>
              </a:defRPr>
            </a:pPr>
            <a:r>
              <a:t>AUC Data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A9D8F"/>
                </a:solidFill>
                <a:latin typeface="Calibri"/>
              </a:defRPr>
            </a:pPr>
            <a:r>
              <a:t>Team DataRx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C3"/>
                </a:solidFill>
                <a:latin typeface="Calibri"/>
              </a:defRPr>
            </a:pPr>
            <a:r>
              <a:t>"In communities with an IGS below 45, how do economic conditions affect healthcare access, and how can small businesses help improve outcomes?"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Objective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The Challenge: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St. Helena Parish has an Inclusive Growth Score of just 36 -- well below the 45 threshold. This rural community of ~10,000 faces compounding economic and health crises.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No local jobs: 62% of working-age adults not employed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Worker exodus: 90% commute out of parish for work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No insurance: only 7.9% have employer coverage (vs 55% nationally)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Healthcare desert: zero pharmacies, 1 dentist, 2 PCPs for 10,000 people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No internet: 3rd percentile nationally for internet access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Deep poverty: 33.7% poverty rate (2.7x the national 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9D8F"/>
                </a:solidFill>
                <a:latin typeface="Calibri"/>
              </a:defRPr>
            </a:pPr>
            <a:r>
              <a:t>Our Solution: Community Hub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 physical and digital center that creates local jobs with employer insurance, brings healthcare services, provides broadband, incubates small businesses, and keeps spending local. One intervention, multiple IGS levers.</a:t>
            </a:r>
          </a:p>
        </p:txBody>
      </p:sp>
      <p:pic>
        <p:nvPicPr>
          <p:cNvPr id="9" name="Picture 8" descr="po_hub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029200" cy="6882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Community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Demographics, Economic Conditions &amp; Social Metrics</a:t>
            </a:r>
          </a:p>
        </p:txBody>
      </p:sp>
      <p:pic>
        <p:nvPicPr>
          <p:cNvPr id="5" name="Picture 4" descr="po_economic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2793076"/>
          </a:xfrm>
          <a:prstGeom prst="rect">
            <a:avLst/>
          </a:prstGeom>
        </p:spPr>
      </p:pic>
      <p:pic>
        <p:nvPicPr>
          <p:cNvPr id="6" name="Picture 5" descr="po_igs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3705726"/>
          </a:xfrm>
          <a:prstGeom prst="rect">
            <a:avLst/>
          </a:prstGeom>
        </p:spPr>
      </p:pic>
      <p:pic>
        <p:nvPicPr>
          <p:cNvPr id="7" name="Picture 6" descr="e1_poverty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657600"/>
            <a:ext cx="3657600" cy="1706880"/>
          </a:xfrm>
          <a:prstGeom prst="rect">
            <a:avLst/>
          </a:prstGeom>
        </p:spPr>
      </p:pic>
      <p:pic>
        <p:nvPicPr>
          <p:cNvPr id="8" name="Picture 7" descr="e1_incom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3657600"/>
            <a:ext cx="3657600" cy="1828800"/>
          </a:xfrm>
          <a:prstGeom prst="rect">
            <a:avLst/>
          </a:prstGeom>
        </p:spPr>
      </p:pic>
      <p:pic>
        <p:nvPicPr>
          <p:cNvPr id="9" name="Picture 8" descr="ag_food_parado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79" y="3657600"/>
            <a:ext cx="3657600" cy="211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D99AE"/>
                </a:solidFill>
                <a:latin typeface="Calibri"/>
              </a:defRPr>
            </a:pPr>
            <a:r>
              <a:t>Source: U.S. Census ACS 2023, Inclusive Growth Score 2025  |  api.census.gov  |  inclusivegrowthscore.com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IGS Ranking vs State and National Averages</a:t>
            </a:r>
          </a:p>
        </p:txBody>
      </p:sp>
      <p:pic>
        <p:nvPicPr>
          <p:cNvPr id="5" name="Picture 4" descr="po_ig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029200" cy="4610100"/>
          </a:xfrm>
          <a:prstGeom prst="rect">
            <a:avLst/>
          </a:prstGeom>
        </p:spPr>
      </p:pic>
      <p:pic>
        <p:nvPicPr>
          <p:cNvPr id="6" name="Picture 5" descr="po_igs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029200" cy="3705726"/>
          </a:xfrm>
          <a:prstGeom prst="rect">
            <a:avLst/>
          </a:prstGeom>
        </p:spPr>
      </p:pic>
      <p:pic>
        <p:nvPicPr>
          <p:cNvPr id="7" name="Picture 6" descr="bm_benchmar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840480"/>
            <a:ext cx="10058400" cy="56934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D99AE"/>
                </a:solidFill>
                <a:latin typeface="Calibri"/>
              </a:defRPr>
            </a:pPr>
            <a:r>
              <a:t>Source: Inclusive Growth Score 2017-2025  |  inclusivegrowthscore.com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Key Findings: Economic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Poverty, Employment &amp; the Worker Exodus</a:t>
            </a:r>
          </a:p>
        </p:txBody>
      </p:sp>
      <p:pic>
        <p:nvPicPr>
          <p:cNvPr id="5" name="Picture 4" descr="e1_poverty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3931920" cy="2502131"/>
          </a:xfrm>
          <a:prstGeom prst="rect">
            <a:avLst/>
          </a:prstGeom>
        </p:spPr>
      </p:pic>
      <p:pic>
        <p:nvPicPr>
          <p:cNvPr id="6" name="Picture 5" descr="e2_labor_fo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3931920" cy="3167380"/>
          </a:xfrm>
          <a:prstGeom prst="rect">
            <a:avLst/>
          </a:prstGeom>
        </p:spPr>
      </p:pic>
      <p:pic>
        <p:nvPicPr>
          <p:cNvPr id="7" name="Picture 6" descr="e2_worker_exod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80160"/>
            <a:ext cx="3931920" cy="2152209"/>
          </a:xfrm>
          <a:prstGeom prst="rect">
            <a:avLst/>
          </a:prstGeom>
        </p:spPr>
      </p:pic>
      <p:pic>
        <p:nvPicPr>
          <p:cNvPr id="8" name="Picture 7" descr="e2_commute_tim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840480"/>
            <a:ext cx="3931920" cy="1965960"/>
          </a:xfrm>
          <a:prstGeom prst="rect">
            <a:avLst/>
          </a:prstGeom>
        </p:spPr>
      </p:pic>
      <p:pic>
        <p:nvPicPr>
          <p:cNvPr id="9" name="Picture 8" descr="e3_insurance_by_employ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840480"/>
            <a:ext cx="3931920" cy="2152209"/>
          </a:xfrm>
          <a:prstGeom prst="rect">
            <a:avLst/>
          </a:prstGeom>
        </p:spPr>
      </p:pic>
      <p:pic>
        <p:nvPicPr>
          <p:cNvPr id="10" name="Picture 9" descr="e3_industry_by_gen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840480"/>
            <a:ext cx="3931920" cy="223579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Key Findings: Healthcare Desert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Disease Burden, Provider Shortages &amp; Preventable Hospitalizations</a:t>
            </a:r>
          </a:p>
        </p:txBody>
      </p:sp>
      <p:pic>
        <p:nvPicPr>
          <p:cNvPr id="5" name="Picture 4" descr="h1_chronic_dise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3931920" cy="2158701"/>
          </a:xfrm>
          <a:prstGeom prst="rect">
            <a:avLst/>
          </a:prstGeom>
        </p:spPr>
      </p:pic>
      <p:pic>
        <p:nvPicPr>
          <p:cNvPr id="6" name="Picture 5" descr="h2_provider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280160"/>
            <a:ext cx="3931920" cy="2397512"/>
          </a:xfrm>
          <a:prstGeom prst="rect">
            <a:avLst/>
          </a:prstGeom>
        </p:spPr>
      </p:pic>
      <p:pic>
        <p:nvPicPr>
          <p:cNvPr id="7" name="Picture 6" descr="h2_preventable_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280160"/>
            <a:ext cx="3931920" cy="2152209"/>
          </a:xfrm>
          <a:prstGeom prst="rect">
            <a:avLst/>
          </a:prstGeom>
        </p:spPr>
      </p:pic>
      <p:pic>
        <p:nvPicPr>
          <p:cNvPr id="8" name="Picture 7" descr="h1_social_determina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840480"/>
            <a:ext cx="3931920" cy="2158701"/>
          </a:xfrm>
          <a:prstGeom prst="rect">
            <a:avLst/>
          </a:prstGeom>
        </p:spPr>
      </p:pic>
      <p:pic>
        <p:nvPicPr>
          <p:cNvPr id="9" name="Picture 8" descr="h2_life_expectanc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840480"/>
            <a:ext cx="3931920" cy="2152209"/>
          </a:xfrm>
          <a:prstGeom prst="rect">
            <a:avLst/>
          </a:prstGeom>
        </p:spPr>
      </p:pic>
      <p:pic>
        <p:nvPicPr>
          <p:cNvPr id="10" name="Picture 9" descr="s1_healthcare_g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840480"/>
            <a:ext cx="3931920" cy="26488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D3557"/>
                </a:solidFill>
                <a:latin typeface="Calibri"/>
              </a:defRPr>
            </a:pPr>
            <a:r>
              <a:t>Proposed Solution: Community Hub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A9D8F"/>
                </a:solidFill>
                <a:latin typeface="Calibri"/>
              </a:defRPr>
            </a:pPr>
            <a:r>
              <a:t>One Hub. Multiple IGS Levers.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Local Jobs:</a:t>
            </a:r>
            <a:r>
              <a:rPr sz="1200">
                <a:solidFill>
                  <a:srgbClr val="333333"/>
                </a:solidFill>
                <a:latin typeface="Calibri"/>
              </a:rPr>
              <a:t> Create 25-50 jobs with employer-sponsored health insurance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Broadband Center:</a:t>
            </a:r>
            <a:r>
              <a:rPr sz="1200">
                <a:solidFill>
                  <a:srgbClr val="333333"/>
                </a:solidFill>
                <a:latin typeface="Calibri"/>
              </a:rPr>
              <a:t> Free WiFi + computer lab (internet: 3rd to 23rd percentile)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Pharmacy &amp; Clinic:</a:t>
            </a:r>
            <a:r>
              <a:rPr sz="1200">
                <a:solidFill>
                  <a:srgbClr val="333333"/>
                </a:solidFill>
                <a:latin typeface="Calibri"/>
              </a:rPr>
              <a:t> First pharmacy in parish; telehealth clinic referrals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Small Business Incubator:</a:t>
            </a:r>
            <a:r>
              <a:rPr sz="1200">
                <a:solidFill>
                  <a:srgbClr val="333333"/>
                </a:solidFill>
                <a:latin typeface="Calibri"/>
              </a:rPr>
              <a:t> Vendor stalls, shared kitchen, SBA loan help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Fresh Food Market:</a:t>
            </a:r>
            <a:r>
              <a:rPr sz="1200">
                <a:solidFill>
                  <a:srgbClr val="333333"/>
                </a:solidFill>
                <a:latin typeface="Calibri"/>
              </a:rPr>
              <a:t> Local produce combating 33.4% food insecurity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Daycare &amp; After-School:</a:t>
            </a:r>
            <a:r>
              <a:rPr sz="1200">
                <a:solidFill>
                  <a:srgbClr val="333333"/>
                </a:solidFill>
                <a:latin typeface="Calibri"/>
              </a:rPr>
              <a:t> Enabling workforce participation for parents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Calibri"/>
              </a:rPr>
              <a:t>Digital Services:</a:t>
            </a:r>
            <a:r>
              <a:rPr sz="1200">
                <a:solidFill>
                  <a:srgbClr val="333333"/>
                </a:solidFill>
                <a:latin typeface="Calibri"/>
              </a:rPr>
              <a:t> Job portal, government kiosk, financial literacy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D3557"/>
                </a:solidFill>
                <a:latin typeface="Calibri"/>
              </a:defRPr>
            </a:pPr>
            <a:r>
              <a:t>The Hub targets 12 of 18 IGS drivers</a:t>
            </a:r>
          </a:p>
        </p:txBody>
      </p:sp>
      <p:pic>
        <p:nvPicPr>
          <p:cNvPr id="7" name="Picture 6" descr="po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486400" cy="3779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D99AE"/>
                </a:solidFill>
                <a:latin typeface="Calibri"/>
              </a:defRPr>
            </a:pPr>
            <a:r>
              <a:t>Source: XGBoost model feature importance trained on 1.4M IGS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9D8F"/>
                </a:solidFill>
                <a:latin typeface="Calibri"/>
              </a:defRPr>
            </a:pPr>
            <a:r>
              <a:t>Year 1: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Secure facility (repurpose vacant commercial building)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Launch broadband center + digital services kiosk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Open fresh food market with local produce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Partner with FQHCs for telehealth clinic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Begin SBA loan outreach for vendors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9D8F"/>
                </a:solidFill>
                <a:latin typeface="Calibri"/>
              </a:defRPr>
            </a:pPr>
            <a:r>
              <a:t>Year 2-3: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Recruit pharmacy operator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Expand to 15-20 vendor stalls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Launch daycare / after-school program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Employer insurance for all Hub employees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Digital literacy &amp; job training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A9D8F"/>
                </a:solidFill>
                <a:latin typeface="Calibri"/>
              </a:defRPr>
            </a:pPr>
            <a:r>
              <a:t>Year 4-5: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Hub reaches 40-50 employees with benefits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Second location or mobile Hub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Mentor businesses to independent storefronts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Community health worker program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Target: IGS above 45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3557"/>
                </a:solidFill>
                <a:latin typeface="Calibri"/>
              </a:defRPr>
            </a:pPr>
            <a:r>
              <a:t>Key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St. Helena Parish Government  |  SBA  |  USDA Rural Development  |  FQHCs  |  Mastercard Center for Inclusive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3557"/>
                </a:solidFill>
                <a:latin typeface="Calibri"/>
              </a:defRPr>
            </a:pPr>
            <a:r>
              <a:t>Risks &amp; 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Low foot traffic: mitigate with anchor tenants + essential services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Funding gaps: mitigate with USDA grants + New Market Tax Credits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Workforce readiness: mitigate with on-site training programs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Predicted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XGBoost Model (R-squared=0.99) trained on 1.4M IGS observations across 85K tracts</a:t>
            </a:r>
          </a:p>
        </p:txBody>
      </p:sp>
      <p:pic>
        <p:nvPicPr>
          <p:cNvPr id="5" name="Picture 4" descr="po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5943600" cy="3566160"/>
          </a:xfrm>
          <a:prstGeom prst="rect">
            <a:avLst/>
          </a:prstGeom>
        </p:spPr>
      </p:pic>
      <p:pic>
        <p:nvPicPr>
          <p:cNvPr id="6" name="Picture 5" descr="po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702629"/>
          </a:xfrm>
          <a:prstGeom prst="rect">
            <a:avLst/>
          </a:prstGeom>
        </p:spPr>
      </p:pic>
      <p:pic>
        <p:nvPicPr>
          <p:cNvPr id="7" name="Picture 6" descr="po_scenario_ba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943600" cy="3253339"/>
          </a:xfrm>
          <a:prstGeom prst="rect">
            <a:avLst/>
          </a:prstGeom>
        </p:spPr>
      </p:pic>
      <p:pic>
        <p:nvPicPr>
          <p:cNvPr id="8" name="Picture 7" descr="po_waterfa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840480"/>
            <a:ext cx="5669280" cy="26800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3557"/>
                </a:solidFill>
                <a:latin typeface="Calibri"/>
              </a:defRPr>
            </a:pPr>
            <a:r>
              <a:t>Metrics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D99AE"/>
                </a:solidFill>
                <a:latin typeface="Calibri"/>
              </a:defRPr>
            </a:pPr>
            <a:r>
              <a:t>Indicators to Track Long-Term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IGS Score:</a:t>
            </a:r>
            <a:r>
              <a:rPr sz="1300">
                <a:solidFill>
                  <a:srgbClr val="333333"/>
                </a:solidFill>
                <a:latin typeface="Calibri"/>
              </a:rPr>
              <a:t> 36 to 45+ (primary outcome, model-validated)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Employer Insurance Rate:</a:t>
            </a:r>
            <a:r>
              <a:rPr sz="1300">
                <a:solidFill>
                  <a:srgbClr val="333333"/>
                </a:solidFill>
                <a:latin typeface="Calibri"/>
              </a:rPr>
              <a:t> 7.9% to 25% (Hub jobs with benefits)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Labor Participation:</a:t>
            </a:r>
            <a:r>
              <a:rPr sz="1300">
                <a:solidFill>
                  <a:srgbClr val="333333"/>
                </a:solidFill>
                <a:latin typeface="Calibri"/>
              </a:rPr>
              <a:t> 50.9% to 60% (local job creation)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Internet Access:</a:t>
            </a:r>
            <a:r>
              <a:rPr sz="1300">
                <a:solidFill>
                  <a:srgbClr val="333333"/>
                </a:solidFill>
                <a:latin typeface="Calibri"/>
              </a:rPr>
              <a:t> 3rd to 25th percentile (broadband center)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Commercial Diversity:</a:t>
            </a:r>
            <a:r>
              <a:rPr sz="1300">
                <a:solidFill>
                  <a:srgbClr val="333333"/>
                </a:solidFill>
                <a:latin typeface="Calibri"/>
              </a:rPr>
              <a:t> 34th to 54th percentile (new business sectors)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Preventable Hospitalizations:</a:t>
            </a:r>
            <a:r>
              <a:rPr sz="1300">
                <a:solidFill>
                  <a:srgbClr val="333333"/>
                </a:solidFill>
                <a:latin typeface="Calibri"/>
              </a:rPr>
              <a:t> 4,862 to 3,500 per 100K (local healthcare)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Food Insecurity:</a:t>
            </a:r>
            <a:r>
              <a:rPr sz="1300">
                <a:solidFill>
                  <a:srgbClr val="333333"/>
                </a:solidFill>
                <a:latin typeface="Calibri"/>
              </a:rPr>
              <a:t> 33.4% to 20% (fresh food market)</a:t>
            </a:r>
          </a:p>
        </p:txBody>
      </p:sp>
      <p:pic>
        <p:nvPicPr>
          <p:cNvPr id="6" name="Picture 5" descr="ms_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0121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D99AE"/>
                </a:solidFill>
                <a:latin typeface="Calibri"/>
              </a:defRPr>
            </a:pPr>
            <a:r>
              <a:t>Source: XGBoost simulation + Census ACS + CDC PLACES + County Health Rankings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A9D8F"/>
                </a:solidFill>
                <a:latin typeface="Calibri"/>
              </a:defRPr>
            </a:pPr>
            <a:r>
              <a:t>St. Helena Parish does not need charity -- it needs infrastructure.</a:t>
            </a:r>
            <a:br/>
            <a:r>
              <a:t>The Community Hub Marketplace is that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C8C8D2"/>
                </a:solidFill>
                <a:latin typeface="Calibri"/>
              </a:rPr>
              <a:t>One intervention targeting 12 of 18 IGS drivers simultaneously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8C8D2"/>
                </a:solidFill>
                <a:latin typeface="Calibri"/>
              </a:rPr>
              <a:t>XGBoost model (R-squared=0.99) projects IGS from 36 to 46.5 in 5 years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8C8D2"/>
                </a:solidFill>
                <a:latin typeface="Calibri"/>
              </a:rPr>
              <a:t>Crossing the 45 threshold -- answering the challenge question directly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8C8D2"/>
                </a:solidFill>
                <a:latin typeface="Calibri"/>
              </a:rPr>
              <a:t>Employer insurance alone could 3x coverage (7.9% to 25%)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8C8D2"/>
                </a:solidFill>
                <a:latin typeface="Calibri"/>
              </a:rPr>
              <a:t>10 real Louisiana tracts already at our Year 3 target -- this is achievable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C8C8D2"/>
                </a:solidFill>
                <a:latin typeface="Calibri"/>
              </a:rPr>
              <a:t>Every dollar spent locally recirculates -- the Hub creates a virtuous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9D8F"/>
                </a:solidFill>
                <a:latin typeface="Calibri"/>
              </a:defRPr>
            </a:pPr>
            <a:r>
              <a:t>Team DataRx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3"/>
                </a:solidFill>
                <a:latin typeface="Calibri"/>
              </a:defRPr>
            </a:pPr>
            <a:r>
              <a:t>AUC Data Challenge 2026  |  St. Helena Parish, Louisiana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D99AE"/>
                </a:solidFill>
                <a:latin typeface="Calibri"/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